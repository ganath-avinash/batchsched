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6" r:id="rId6"/>
    <p:sldId id="260" r:id="rId7"/>
    <p:sldId id="262" r:id="rId8"/>
    <p:sldId id="265" r:id="rId9"/>
    <p:sldId id="261" r:id="rId10"/>
    <p:sldId id="269" r:id="rId11"/>
    <p:sldId id="263" r:id="rId12"/>
    <p:sldId id="268" r:id="rId13"/>
    <p:sldId id="264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3660" autoAdjust="0"/>
  </p:normalViewPr>
  <p:slideViewPr>
    <p:cSldViewPr snapToGrid="0">
      <p:cViewPr varScale="1">
        <p:scale>
          <a:sx n="52" d="100"/>
          <a:sy n="52" d="100"/>
        </p:scale>
        <p:origin x="187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DF7F0D-8280-411D-A8BC-0E2106279AF9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CF608-4089-4E64-9E08-46C91DDC1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891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 sir.</a:t>
            </a:r>
            <a:br>
              <a:rPr lang="en-US" dirty="0"/>
            </a:br>
            <a:r>
              <a:rPr lang="en-US" dirty="0"/>
              <a:t>My DAA Capstone project is titled </a:t>
            </a:r>
            <a:r>
              <a:rPr lang="en-US" b="1" dirty="0"/>
              <a:t>Online Batch Job Scheduling System</a:t>
            </a:r>
            <a:r>
              <a:rPr lang="en-US" dirty="0"/>
              <a:t>.</a:t>
            </a:r>
          </a:p>
          <a:p>
            <a:r>
              <a:rPr lang="en-US" dirty="0"/>
              <a:t>In modern computing environments such as cloud platforms or distributed systems, thousands or even millions of jobs arrive continuously. Each job requires certain computational resources and has a deadline.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CF608-4089-4E64-9E08-46C91DDC13F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265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asks us to design a </a:t>
            </a:r>
            <a:r>
              <a:rPr lang="en-US" b="1" dirty="0"/>
              <a:t>batch processing scheduler</a:t>
            </a:r>
            <a:r>
              <a:rPr lang="en-US" dirty="0"/>
              <a:t>.</a:t>
            </a:r>
          </a:p>
          <a:p>
            <a:r>
              <a:rPr lang="en-US" dirty="0"/>
              <a:t>Each job has two parameters:</a:t>
            </a:r>
          </a:p>
          <a:p>
            <a:r>
              <a:rPr lang="en-US" b="1" dirty="0"/>
              <a:t>Ci</a:t>
            </a:r>
            <a:r>
              <a:rPr lang="en-US" dirty="0"/>
              <a:t>, which represents the compute requirement</a:t>
            </a:r>
          </a:p>
          <a:p>
            <a:r>
              <a:rPr lang="en-US" b="1" dirty="0"/>
              <a:t>Di</a:t>
            </a:r>
            <a:r>
              <a:rPr lang="en-US" dirty="0"/>
              <a:t>, which represents the job deadline.</a:t>
            </a:r>
          </a:p>
          <a:p>
            <a:r>
              <a:rPr lang="en-US" dirty="0"/>
              <a:t>From the set of pending jobs, the scheduler must select </a:t>
            </a:r>
            <a:r>
              <a:rPr lang="en-US" b="1" dirty="0"/>
              <a:t>N jobs for today's execution</a:t>
            </a:r>
            <a:r>
              <a:rPr lang="en-US" dirty="0"/>
              <a:t>.</a:t>
            </a:r>
          </a:p>
          <a:p>
            <a:r>
              <a:rPr lang="en-US" dirty="0"/>
              <a:t>The challenge is that </a:t>
            </a:r>
            <a:r>
              <a:rPr lang="en-US" b="1" dirty="0"/>
              <a:t>future job arrivals are unknown</a:t>
            </a:r>
            <a:r>
              <a:rPr lang="en-US" dirty="0"/>
              <a:t>, which means the system must make decisions using only the currently available jobs.</a:t>
            </a:r>
          </a:p>
          <a:p>
            <a:r>
              <a:rPr lang="en-US" dirty="0"/>
              <a:t>Because of this uncertainty, the scheduler must make </a:t>
            </a:r>
            <a:r>
              <a:rPr lang="en-US" b="1" dirty="0"/>
              <a:t>robust decisions</a:t>
            </a:r>
            <a:r>
              <a:rPr lang="en-US" dirty="0"/>
              <a:t> so that today's scheduling remains efficient even if more urgent jobs arrive later.</a:t>
            </a:r>
          </a:p>
          <a:p>
            <a:r>
              <a:rPr lang="en-US" dirty="0"/>
              <a:t>The output of the algorithm is simply </a:t>
            </a:r>
            <a:r>
              <a:rPr lang="en-US" b="1" dirty="0"/>
              <a:t>the list of N jobs selected for execution today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CF608-4089-4E64-9E08-46C91DDC13F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426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problem falls under </a:t>
            </a:r>
            <a:r>
              <a:rPr lang="en-US" b="1" dirty="0"/>
              <a:t>Online Job Scheduling Systems</a:t>
            </a:r>
            <a:r>
              <a:rPr lang="en-US" dirty="0"/>
              <a:t>.</a:t>
            </a:r>
          </a:p>
          <a:p>
            <a:r>
              <a:rPr lang="en-US" dirty="0"/>
              <a:t>In online scheduling, decisions must be made </a:t>
            </a:r>
            <a:r>
              <a:rPr lang="en-US" b="1" dirty="0"/>
              <a:t>without knowledge of future inputs</a:t>
            </a:r>
            <a:r>
              <a:rPr lang="en-US" dirty="0"/>
              <a:t>.</a:t>
            </a:r>
          </a:p>
          <a:p>
            <a:r>
              <a:rPr lang="en-US" dirty="0"/>
              <a:t>There are three major challenges.</a:t>
            </a:r>
          </a:p>
          <a:p>
            <a:r>
              <a:rPr lang="en-US" dirty="0"/>
              <a:t>First is </a:t>
            </a:r>
            <a:r>
              <a:rPr lang="en-US" b="1" dirty="0"/>
              <a:t>deadline sensitivity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Jobs close to their deadlines must be prioritized to avoid expiration.</a:t>
            </a:r>
          </a:p>
          <a:p>
            <a:r>
              <a:rPr lang="en-US" dirty="0"/>
              <a:t>Second is </a:t>
            </a:r>
            <a:r>
              <a:rPr lang="en-US" b="1" dirty="0"/>
              <a:t>compute load variability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Some jobs require large computational resources, which can overload the system if scheduled together.</a:t>
            </a:r>
          </a:p>
          <a:p>
            <a:r>
              <a:rPr lang="en-US" dirty="0"/>
              <a:t>Third is </a:t>
            </a:r>
            <a:r>
              <a:rPr lang="en-US" b="1" dirty="0"/>
              <a:t>lack of look-ahead capability</a:t>
            </a:r>
            <a:r>
              <a:rPr lang="en-US" dirty="0"/>
              <a:t>, meaning we cannot predict future job arrivals.</a:t>
            </a:r>
          </a:p>
          <a:p>
            <a:r>
              <a:rPr lang="en-US" dirty="0"/>
              <a:t>From analyzing these challenges, we derive two key insights.</a:t>
            </a:r>
          </a:p>
          <a:p>
            <a:r>
              <a:rPr lang="en-US" dirty="0"/>
              <a:t>First, </a:t>
            </a:r>
            <a:r>
              <a:rPr lang="en-US" b="1" dirty="0"/>
              <a:t>earlier deadlines should always be given higher priority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Second, when deadlines are equal, we should choose jobs with </a:t>
            </a:r>
            <a:r>
              <a:rPr lang="en-US" b="1" dirty="0"/>
              <a:t>smaller compute requirements</a:t>
            </a:r>
            <a:r>
              <a:rPr lang="en-US" dirty="0"/>
              <a:t>.</a:t>
            </a:r>
          </a:p>
          <a:p>
            <a:r>
              <a:rPr lang="en-US" dirty="0"/>
              <a:t>Missing a deadline is far worse than having a slightly unbalanced workload. That is why deadline priority is the primary factor.</a:t>
            </a:r>
          </a:p>
          <a:p>
            <a:r>
              <a:rPr lang="en-US" dirty="0"/>
              <a:t>This approach ensures urgent jobs are handled, workload remains smooth, and scheduling stays robust under uncertainty.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CF608-4089-4E64-9E08-46C91DDC13F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762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algorithm follows a </a:t>
            </a:r>
            <a:r>
              <a:rPr lang="en-US" b="1" dirty="0"/>
              <a:t>greedy scheduling strategy</a:t>
            </a:r>
            <a:r>
              <a:rPr lang="en-US" dirty="0"/>
              <a:t> combined with </a:t>
            </a:r>
            <a:r>
              <a:rPr lang="en-US" b="1" dirty="0"/>
              <a:t>merge sort</a:t>
            </a:r>
            <a:r>
              <a:rPr lang="en-US" dirty="0"/>
              <a:t>.</a:t>
            </a:r>
          </a:p>
          <a:p>
            <a:r>
              <a:rPr lang="en-US" dirty="0"/>
              <a:t>The algorithm works in six main steps.</a:t>
            </a:r>
          </a:p>
          <a:p>
            <a:r>
              <a:rPr lang="en-US" dirty="0"/>
              <a:t>First, we remove all </a:t>
            </a:r>
            <a:r>
              <a:rPr lang="en-US" b="1" dirty="0"/>
              <a:t>expired jobs</a:t>
            </a:r>
            <a:r>
              <a:rPr lang="en-US" dirty="0"/>
              <a:t>, meaning jobs whose deadline is earlier than the current day.</a:t>
            </a:r>
          </a:p>
          <a:p>
            <a:r>
              <a:rPr lang="en-US" dirty="0"/>
              <a:t>Second, we sort the remaining jobs using two priorities:</a:t>
            </a:r>
          </a:p>
          <a:p>
            <a:r>
              <a:rPr lang="en-US" b="1" dirty="0"/>
              <a:t>Earliest Deadline First</a:t>
            </a:r>
            <a:endParaRPr lang="en-US" dirty="0"/>
          </a:p>
          <a:p>
            <a:r>
              <a:rPr lang="en-US" b="1" dirty="0"/>
              <a:t>Smallest Compute Requirement</a:t>
            </a:r>
            <a:endParaRPr lang="en-US" dirty="0"/>
          </a:p>
          <a:p>
            <a:r>
              <a:rPr lang="en-US" dirty="0"/>
              <a:t>Sorting is implemented using </a:t>
            </a:r>
            <a:r>
              <a:rPr lang="en-US" b="1" dirty="0"/>
              <a:t>merge sort</a:t>
            </a:r>
            <a:r>
              <a:rPr lang="en-US" dirty="0"/>
              <a:t>, which guarantees O(n log n) performance.</a:t>
            </a:r>
          </a:p>
          <a:p>
            <a:r>
              <a:rPr lang="en-US" dirty="0"/>
              <a:t>Third, we select the </a:t>
            </a:r>
            <a:r>
              <a:rPr lang="en-US" b="1" dirty="0"/>
              <a:t>first N jobs</a:t>
            </a:r>
            <a:r>
              <a:rPr lang="en-US" dirty="0"/>
              <a:t> from the sorted list.</a:t>
            </a:r>
          </a:p>
          <a:p>
            <a:r>
              <a:rPr lang="en-US" dirty="0"/>
              <a:t>Fourth, these jobs are executed for today's batch.</a:t>
            </a:r>
          </a:p>
          <a:p>
            <a:r>
              <a:rPr lang="en-US" dirty="0"/>
              <a:t>Fifth, any remaining jobs are stored as a </a:t>
            </a:r>
            <a:r>
              <a:rPr lang="en-US" b="1" dirty="0"/>
              <a:t>backlog for future scheduling</a:t>
            </a:r>
            <a:r>
              <a:rPr lang="en-US" dirty="0"/>
              <a:t>.</a:t>
            </a:r>
          </a:p>
          <a:p>
            <a:r>
              <a:rPr lang="en-US" dirty="0"/>
              <a:t>Finally, the system calculates metrics such as total compute load and backlog size.</a:t>
            </a:r>
          </a:p>
          <a:p>
            <a:r>
              <a:rPr lang="en-US" dirty="0"/>
              <a:t>This approach ensures urgent jobs are prioritized while maintaining balanced system workload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CF608-4089-4E64-9E08-46C91DDC13F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934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justify this algorithm, I compared several possible scheduling strategies.</a:t>
            </a:r>
          </a:p>
          <a:p>
            <a:r>
              <a:rPr lang="en-US" dirty="0"/>
              <a:t>The best approach is </a:t>
            </a:r>
            <a:r>
              <a:rPr lang="en-US" b="1" dirty="0"/>
              <a:t>EDF plus SCF</a:t>
            </a:r>
            <a:r>
              <a:rPr lang="en-US" dirty="0"/>
              <a:t>, which means Earliest Deadline First with Smallest Compute First.</a:t>
            </a:r>
          </a:p>
          <a:p>
            <a:r>
              <a:rPr lang="en-US" dirty="0"/>
              <a:t>This ensures urgent jobs are handled while keeping workload balanced.</a:t>
            </a:r>
          </a:p>
          <a:p>
            <a:r>
              <a:rPr lang="en-US" dirty="0"/>
              <a:t>Another possible strategy is </a:t>
            </a:r>
            <a:r>
              <a:rPr lang="en-US" b="1" dirty="0"/>
              <a:t>EDF plus RCF</a:t>
            </a:r>
            <a:r>
              <a:rPr lang="en-US" dirty="0"/>
              <a:t>, where compute priority is random.</a:t>
            </a:r>
            <a:br>
              <a:rPr lang="en-US" dirty="0"/>
            </a:br>
            <a:r>
              <a:rPr lang="en-US" dirty="0"/>
              <a:t>This works but produces unpredictable load distribution.</a:t>
            </a:r>
          </a:p>
          <a:p>
            <a:r>
              <a:rPr lang="en-US" dirty="0"/>
              <a:t>EDF plus </a:t>
            </a:r>
            <a:r>
              <a:rPr lang="en-US" b="1" dirty="0"/>
              <a:t>LCF</a:t>
            </a:r>
            <a:r>
              <a:rPr lang="en-US" dirty="0"/>
              <a:t>, meaning Largest Compute First, schedules heavy jobs early and often creates </a:t>
            </a:r>
            <a:r>
              <a:rPr lang="en-US" b="1" dirty="0"/>
              <a:t>load spikes</a:t>
            </a:r>
            <a:r>
              <a:rPr lang="en-US" dirty="0"/>
              <a:t>.</a:t>
            </a:r>
          </a:p>
          <a:p>
            <a:r>
              <a:rPr lang="en-US" dirty="0"/>
              <a:t>The worst strategy is </a:t>
            </a:r>
            <a:r>
              <a:rPr lang="en-US" b="1" dirty="0"/>
              <a:t>not prioritizing deadlines</a:t>
            </a:r>
            <a:r>
              <a:rPr lang="en-US" dirty="0"/>
              <a:t>, which may cause jobs to miss deadlines.</a:t>
            </a:r>
          </a:p>
          <a:p>
            <a:r>
              <a:rPr lang="en-US" dirty="0"/>
              <a:t>Therefore, EDF plus SCF provides the best combination of </a:t>
            </a:r>
            <a:r>
              <a:rPr lang="en-US" b="1" dirty="0"/>
              <a:t>deadline satisfaction, balanced workload, and robustness</a:t>
            </a:r>
            <a:r>
              <a:rPr lang="en-US" dirty="0"/>
              <a:t>.</a:t>
            </a:r>
          </a:p>
          <a:p>
            <a:r>
              <a:rPr lang="en-US" dirty="0"/>
              <a:t>This diagram shows why SCF is better than LCF.</a:t>
            </a:r>
          </a:p>
          <a:p>
            <a:r>
              <a:rPr lang="en-US" dirty="0"/>
              <a:t>With </a:t>
            </a:r>
            <a:r>
              <a:rPr lang="en-US" b="1" dirty="0"/>
              <a:t>EDF + SCF</a:t>
            </a:r>
            <a:r>
              <a:rPr lang="en-US" dirty="0"/>
              <a:t>, the workload is distributed smoothly across days.</a:t>
            </a:r>
          </a:p>
          <a:p>
            <a:r>
              <a:rPr lang="en-US" dirty="0"/>
              <a:t>With </a:t>
            </a:r>
            <a:r>
              <a:rPr lang="en-US" b="1" dirty="0"/>
              <a:t>EDF + LCF</a:t>
            </a:r>
            <a:r>
              <a:rPr lang="en-US" dirty="0"/>
              <a:t>, heavy jobs are executed early, causing large </a:t>
            </a:r>
            <a:r>
              <a:rPr lang="en-US" b="1" dirty="0"/>
              <a:t>compute spikes</a:t>
            </a:r>
            <a:r>
              <a:rPr lang="en-US" dirty="0"/>
              <a:t> followed by very low workloads.</a:t>
            </a:r>
          </a:p>
          <a:p>
            <a:r>
              <a:rPr lang="en-US" dirty="0"/>
              <a:t>These spikes can overload the system and reduce flexibility for handling future jobs.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CF608-4089-4E64-9E08-46C91DDC13F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0049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we analyze the algorithm using asymptotic notations.</a:t>
            </a:r>
          </a:p>
          <a:p>
            <a:r>
              <a:rPr lang="en-US" dirty="0"/>
              <a:t>Let j represent the number of jobs.</a:t>
            </a:r>
          </a:p>
          <a:p>
            <a:r>
              <a:rPr lang="en-US" dirty="0"/>
              <a:t>Removing expired jobs takes </a:t>
            </a:r>
            <a:r>
              <a:rPr lang="en-US" b="1" dirty="0"/>
              <a:t>O(j)</a:t>
            </a:r>
            <a:r>
              <a:rPr lang="en-US" dirty="0"/>
              <a:t> time.</a:t>
            </a:r>
          </a:p>
          <a:p>
            <a:r>
              <a:rPr lang="en-US" dirty="0"/>
              <a:t>Sorting jobs using merge sort takes </a:t>
            </a:r>
            <a:r>
              <a:rPr lang="en-US" b="1" dirty="0"/>
              <a:t>O(j log j)</a:t>
            </a:r>
            <a:r>
              <a:rPr lang="en-US" dirty="0"/>
              <a:t> time.</a:t>
            </a:r>
          </a:p>
          <a:p>
            <a:r>
              <a:rPr lang="en-US" dirty="0"/>
              <a:t>Selecting N jobs and computing metrics both take </a:t>
            </a:r>
            <a:r>
              <a:rPr lang="en-US" b="1" dirty="0"/>
              <a:t>O(j)</a:t>
            </a:r>
            <a:r>
              <a:rPr lang="en-US" dirty="0"/>
              <a:t> time.</a:t>
            </a:r>
          </a:p>
          <a:p>
            <a:r>
              <a:rPr lang="en-US" dirty="0"/>
              <a:t>Among these operations, sorting dominates the running time.</a:t>
            </a:r>
          </a:p>
          <a:p>
            <a:r>
              <a:rPr lang="en-US" dirty="0"/>
              <a:t>Therefore the </a:t>
            </a:r>
            <a:r>
              <a:rPr lang="en-US" b="1" dirty="0"/>
              <a:t>overall time complexity is O(j log j)</a:t>
            </a:r>
            <a:r>
              <a:rPr lang="en-US" dirty="0"/>
              <a:t>.</a:t>
            </a:r>
          </a:p>
          <a:p>
            <a:r>
              <a:rPr lang="en-US" dirty="0"/>
              <a:t>The space complexity is </a:t>
            </a:r>
            <a:r>
              <a:rPr lang="en-US" b="1" dirty="0"/>
              <a:t>O(j)</a:t>
            </a:r>
            <a:r>
              <a:rPr lang="en-US" dirty="0"/>
              <a:t> due to the temporary arrays used in merge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CF608-4089-4E64-9E08-46C91DDC13F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663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demonstrate why the algorithm works better, let us consider this example.</a:t>
            </a:r>
          </a:p>
          <a:p>
            <a:r>
              <a:rPr lang="en-US" dirty="0"/>
              <a:t>Assume today is Day 5 and we need to select </a:t>
            </a:r>
            <a:r>
              <a:rPr lang="en-US" b="1" dirty="0"/>
              <a:t>N = 2 jobs</a:t>
            </a:r>
            <a:r>
              <a:rPr lang="en-US" dirty="0"/>
              <a:t>.</a:t>
            </a:r>
          </a:p>
          <a:p>
            <a:r>
              <a:rPr lang="en-US" dirty="0"/>
              <a:t>We have several jobs with different compute requirements and deadlines.</a:t>
            </a:r>
          </a:p>
          <a:p>
            <a:r>
              <a:rPr lang="en-US" dirty="0"/>
              <a:t>Now we compare two strategies.</a:t>
            </a:r>
          </a:p>
          <a:p>
            <a:r>
              <a:rPr lang="en-US" dirty="0"/>
              <a:t>First is </a:t>
            </a:r>
            <a:r>
              <a:rPr lang="en-US" b="1" dirty="0"/>
              <a:t>EDF + LCF</a:t>
            </a:r>
            <a:r>
              <a:rPr lang="en-US" dirty="0"/>
              <a:t>, where the largest compute job is selected first.</a:t>
            </a:r>
            <a:br>
              <a:rPr lang="en-US" dirty="0"/>
            </a:br>
            <a:r>
              <a:rPr lang="en-US" dirty="0"/>
              <a:t>This results in selecting jobs J1 and J3 with a total compute load of </a:t>
            </a:r>
            <a:r>
              <a:rPr lang="en-US" b="1" dirty="0"/>
              <a:t>13</a:t>
            </a:r>
            <a:r>
              <a:rPr lang="en-US" dirty="0"/>
              <a:t>, which creates a heavy workload spike.</a:t>
            </a:r>
          </a:p>
          <a:p>
            <a:r>
              <a:rPr lang="en-US" dirty="0"/>
              <a:t>Second is </a:t>
            </a:r>
            <a:r>
              <a:rPr lang="en-US" b="1" dirty="0"/>
              <a:t>EDF + SCF</a:t>
            </a:r>
            <a:r>
              <a:rPr lang="en-US" dirty="0"/>
              <a:t>, where smaller compute jobs are selected first.</a:t>
            </a:r>
            <a:br>
              <a:rPr lang="en-US" dirty="0"/>
            </a:br>
            <a:r>
              <a:rPr lang="en-US" dirty="0"/>
              <a:t>This results in selecting jobs J2 and J3 with a total compute load of </a:t>
            </a:r>
            <a:r>
              <a:rPr lang="en-US" b="1" dirty="0"/>
              <a:t>5</a:t>
            </a:r>
            <a:r>
              <a:rPr lang="en-US" dirty="0"/>
              <a:t>, which is much more balanced.</a:t>
            </a:r>
          </a:p>
          <a:p>
            <a:r>
              <a:rPr lang="en-US" dirty="0"/>
              <a:t>This example clearly shows that </a:t>
            </a:r>
            <a:r>
              <a:rPr lang="en-US" b="1" dirty="0"/>
              <a:t>EDF + SCF prevents workload spikes and keeps the system more stable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CF608-4089-4E64-9E08-46C91DDC13F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550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demonstrate why the algorithm works better, let us consider this example.</a:t>
            </a:r>
          </a:p>
          <a:p>
            <a:r>
              <a:rPr lang="en-US" dirty="0"/>
              <a:t>Assume today is Day 5 and we need to select </a:t>
            </a:r>
            <a:r>
              <a:rPr lang="en-US" b="1" dirty="0"/>
              <a:t>N = 2 jobs</a:t>
            </a:r>
            <a:r>
              <a:rPr lang="en-US" dirty="0"/>
              <a:t>.</a:t>
            </a:r>
          </a:p>
          <a:p>
            <a:r>
              <a:rPr lang="en-US" dirty="0"/>
              <a:t>We have several jobs with different compute requirements and deadlines.</a:t>
            </a:r>
          </a:p>
          <a:p>
            <a:r>
              <a:rPr lang="en-US" dirty="0"/>
              <a:t>Now we compare two strategies.</a:t>
            </a:r>
          </a:p>
          <a:p>
            <a:r>
              <a:rPr lang="en-US" dirty="0"/>
              <a:t>First is </a:t>
            </a:r>
            <a:r>
              <a:rPr lang="en-US" b="1" dirty="0"/>
              <a:t>EDF + LCF</a:t>
            </a:r>
            <a:r>
              <a:rPr lang="en-US" dirty="0"/>
              <a:t>, where the largest compute job is selected first.</a:t>
            </a:r>
            <a:br>
              <a:rPr lang="en-US" dirty="0"/>
            </a:br>
            <a:r>
              <a:rPr lang="en-US" dirty="0"/>
              <a:t>This results in selecting jobs J1 and J3 with a total compute load of </a:t>
            </a:r>
            <a:r>
              <a:rPr lang="en-US" b="1" dirty="0"/>
              <a:t>13</a:t>
            </a:r>
            <a:r>
              <a:rPr lang="en-US" dirty="0"/>
              <a:t>, which creates a heavy workload spike.</a:t>
            </a:r>
          </a:p>
          <a:p>
            <a:r>
              <a:rPr lang="en-US" dirty="0"/>
              <a:t>Second is </a:t>
            </a:r>
            <a:r>
              <a:rPr lang="en-US" b="1" dirty="0"/>
              <a:t>EDF + SCF</a:t>
            </a:r>
            <a:r>
              <a:rPr lang="en-US" dirty="0"/>
              <a:t>, where smaller compute jobs are selected first.</a:t>
            </a:r>
            <a:br>
              <a:rPr lang="en-US" dirty="0"/>
            </a:br>
            <a:r>
              <a:rPr lang="en-US" dirty="0"/>
              <a:t>This results in selecting jobs J2 and J3 with a total compute load of </a:t>
            </a:r>
            <a:r>
              <a:rPr lang="en-US" b="1" dirty="0"/>
              <a:t>5</a:t>
            </a:r>
            <a:r>
              <a:rPr lang="en-US" dirty="0"/>
              <a:t>, which is much more balanced.</a:t>
            </a:r>
          </a:p>
          <a:p>
            <a:r>
              <a:rPr lang="en-US" dirty="0"/>
              <a:t>This example clearly shows that </a:t>
            </a:r>
            <a:r>
              <a:rPr lang="en-US" b="1" dirty="0"/>
              <a:t>EDF + SCF prevents workload spikes and keeps the system more stable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CF608-4089-4E64-9E08-46C91DDC13F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3338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solution is based on three key algorithmic concepts.</a:t>
            </a:r>
          </a:p>
          <a:p>
            <a:r>
              <a:rPr lang="en-US" dirty="0"/>
              <a:t>First is the </a:t>
            </a:r>
            <a:r>
              <a:rPr lang="en-US" b="1" dirty="0"/>
              <a:t>Greedy Algorithm</a:t>
            </a:r>
            <a:r>
              <a:rPr lang="en-US" dirty="0"/>
              <a:t>, where the locally optimal decision is made at each step.</a:t>
            </a:r>
          </a:p>
          <a:p>
            <a:r>
              <a:rPr lang="en-US" dirty="0"/>
              <a:t>Second is </a:t>
            </a:r>
            <a:r>
              <a:rPr lang="en-US" b="1" dirty="0"/>
              <a:t>Divide and Conquer</a:t>
            </a:r>
            <a:r>
              <a:rPr lang="en-US" dirty="0"/>
              <a:t>, which is used in merge sort to efficiently sort jobs.</a:t>
            </a:r>
          </a:p>
          <a:p>
            <a:r>
              <a:rPr lang="en-US" dirty="0"/>
              <a:t>Third is </a:t>
            </a:r>
            <a:r>
              <a:rPr lang="en-US" b="1" dirty="0"/>
              <a:t>Robust Job Scheduling</a:t>
            </a:r>
            <a:r>
              <a:rPr lang="en-US" dirty="0"/>
              <a:t>, where decisions remain effective even when future jobs are unknown.</a:t>
            </a:r>
          </a:p>
          <a:p>
            <a:r>
              <a:rPr lang="en-US" dirty="0"/>
              <a:t>The system works as follows.</a:t>
            </a:r>
          </a:p>
          <a:p>
            <a:r>
              <a:rPr lang="en-US" dirty="0"/>
              <a:t>The user inputs jobs with compute units and deadlines.</a:t>
            </a:r>
            <a:br>
              <a:rPr lang="en-US" dirty="0"/>
            </a:br>
            <a:r>
              <a:rPr lang="en-US" dirty="0"/>
              <a:t>The scheduler removes expired jobs.</a:t>
            </a:r>
            <a:br>
              <a:rPr lang="en-US" dirty="0"/>
            </a:br>
            <a:r>
              <a:rPr lang="en-US" dirty="0"/>
              <a:t>The remaining jobs are sorted using </a:t>
            </a:r>
            <a:r>
              <a:rPr lang="en-US" b="1" dirty="0"/>
              <a:t>Earliest Deadline First with compute priority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 first N jobs are selected for execution, while remaining jobs form the backlog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CF608-4089-4E64-9E08-46C91DDC13F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9314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was implemented in two forms.</a:t>
            </a:r>
          </a:p>
          <a:p>
            <a:r>
              <a:rPr lang="en-US" dirty="0"/>
              <a:t>First, a </a:t>
            </a:r>
            <a:r>
              <a:rPr lang="en-US" b="1" dirty="0"/>
              <a:t>CLI-based scheduler written in C</a:t>
            </a:r>
            <a:r>
              <a:rPr lang="en-US" dirty="0"/>
              <a:t>, which demonstrates the algorithm execution , and here Is the pseudocode for it.</a:t>
            </a:r>
          </a:p>
          <a:p>
            <a:r>
              <a:rPr lang="en-US" dirty="0"/>
              <a:t>Second, a </a:t>
            </a:r>
            <a:r>
              <a:rPr lang="en-US" b="1" dirty="0"/>
              <a:t>web-based interface</a:t>
            </a:r>
            <a:r>
              <a:rPr lang="en-US" dirty="0"/>
              <a:t>, which visually shows job scheduling results.</a:t>
            </a:r>
          </a:p>
          <a:p>
            <a:r>
              <a:rPr lang="en-US" dirty="0"/>
              <a:t>The system can run for </a:t>
            </a:r>
            <a:r>
              <a:rPr lang="en-US" b="1" dirty="0"/>
              <a:t>single-day scheduling</a:t>
            </a:r>
            <a:r>
              <a:rPr lang="en-US" dirty="0"/>
              <a:t> as well as </a:t>
            </a:r>
            <a:r>
              <a:rPr lang="en-US" b="1" dirty="0"/>
              <a:t>multi-day scheduling simulations</a:t>
            </a:r>
            <a:r>
              <a:rPr lang="en-US" dirty="0"/>
              <a:t>.</a:t>
            </a:r>
          </a:p>
          <a:p>
            <a:r>
              <a:rPr lang="en-US" dirty="0"/>
              <a:t>These implementations demonstrate the practical applicability of the algorithm.”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CF608-4089-4E64-9E08-46C91DDC13F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17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CF608-4089-4E64-9E08-46C91DDC13F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0005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conclude, this project presents an efficient solution for online batch job scheduling.</a:t>
            </a:r>
          </a:p>
          <a:p>
            <a:r>
              <a:rPr lang="en-US" dirty="0"/>
              <a:t>By combining </a:t>
            </a:r>
            <a:r>
              <a:rPr lang="en-US" b="1" dirty="0"/>
              <a:t>Earliest Deadline First with Smallest Compute First</a:t>
            </a:r>
            <a:r>
              <a:rPr lang="en-US" dirty="0"/>
              <a:t>, the algorithm ensures deadline satisfaction while maintaining balanced system workload.</a:t>
            </a:r>
          </a:p>
          <a:p>
            <a:r>
              <a:rPr lang="en-US" dirty="0"/>
              <a:t>The algorithm runs in </a:t>
            </a:r>
            <a:r>
              <a:rPr lang="en-US" b="1" dirty="0"/>
              <a:t>O(n log n)</a:t>
            </a:r>
            <a:r>
              <a:rPr lang="en-US" dirty="0"/>
              <a:t> time and performs well even when future job arrivals are unknown.</a:t>
            </a:r>
          </a:p>
          <a:p>
            <a:r>
              <a:rPr lang="en-US" dirty="0"/>
              <a:t>This makes the approach suitable for real-world systems such as </a:t>
            </a:r>
            <a:r>
              <a:rPr lang="en-US" b="1" dirty="0"/>
              <a:t>cloud computing platforms and large-scale batch processing systems</a:t>
            </a:r>
            <a:r>
              <a:rPr lang="en-US" dirty="0"/>
              <a:t>.</a:t>
            </a:r>
          </a:p>
          <a:p>
            <a:r>
              <a:rPr lang="en-US" dirty="0"/>
              <a:t>Thank you.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CF608-4089-4E64-9E08-46C91DDC13FA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517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EF459-3C02-2DC1-B4D1-D1C8AFE045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B48521-591C-B38D-E84E-9940FA6DC1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4886C-F9C8-06BD-1736-8B920665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121D4-799A-416C-98A3-354DFD65724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8124D-CFFA-51AA-22B8-E39E78A3E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2CDF8-0FB0-4EF8-95D1-00EF2BB74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32CB-7144-499D-ABA6-1897D1C96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01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over/>
      </p:transition>
    </mc:Choice>
    <mc:Fallback xmlns="">
      <p:transition>
        <p:cover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A6428-2D64-670F-E8F1-98086CD1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965F4-93A1-9B57-5884-3E105CF61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77CF3-FFA8-B8D7-58B0-8EAFF4207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121D4-799A-416C-98A3-354DFD65724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42FF7-A151-12F1-87A5-A5539495A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A6E21-E314-F7C0-C2EB-612C1282B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32CB-7144-499D-ABA6-1897D1C96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614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over/>
      </p:transition>
    </mc:Choice>
    <mc:Fallback xmlns="">
      <p:transition>
        <p:cover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37820-C817-5893-D1DB-6018AFD70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0BBD8-CD00-9B2D-C332-51E9CC31C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B39AA-392B-40F1-00DE-86D544B37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121D4-799A-416C-98A3-354DFD65724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0A6B6-1027-5F38-6528-6F1AA78AC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87265-855B-21D3-C7DB-00A969AF0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32CB-7144-499D-ABA6-1897D1C96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695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over/>
      </p:transition>
    </mc:Choice>
    <mc:Fallback xmlns="">
      <p:transition>
        <p:cover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3C712-D3A7-494D-C62D-749EB1F06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22C17-1561-5019-BA70-7AAF6F978A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04E4F-6EEF-48A6-1A1F-4424EA3E0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7837A-75A9-9ABB-E916-D02FEB241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121D4-799A-416C-98A3-354DFD65724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E5EA7-52D5-279D-3E38-9A0F8AB9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232724-EDB1-58A4-920F-00B4A7321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32CB-7144-499D-ABA6-1897D1C96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34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over/>
      </p:transition>
    </mc:Choice>
    <mc:Fallback xmlns="">
      <p:transition>
        <p:cover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1B515-8697-EF0B-8EC6-35865990C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933E8-E50A-DF5D-916E-599A0DC96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B91A6A-7973-4EFA-ED79-70D37B05D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9633BD-95EF-6C6B-4A4C-0486270CC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B489CC-2623-86BA-4B60-CFB39F4B27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BEC07A-1A62-045E-FD1F-25B98F61B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121D4-799A-416C-98A3-354DFD65724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855ABE-D78A-66E3-EA35-33DCF6B16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B97E64-7429-FCC7-19D4-690F60C24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32CB-7144-499D-ABA6-1897D1C96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627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over/>
      </p:transition>
    </mc:Choice>
    <mc:Fallback xmlns="">
      <p:transition>
        <p:cover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4439C-DEEC-2CE6-3DF8-FDF74AF63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223B1E-5F60-6D7A-2B5F-5C3BD8B01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121D4-799A-416C-98A3-354DFD65724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C77CB-3041-3CBB-0CAA-BDAB240FA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E38EBB-6E20-CA5F-4880-E79AB1881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32CB-7144-499D-ABA6-1897D1C96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824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over/>
      </p:transition>
    </mc:Choice>
    <mc:Fallback xmlns="">
      <p:transition>
        <p:cover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47EAA-CD06-76FE-CDFB-22629E4C3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121D4-799A-416C-98A3-354DFD65724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F36702-0041-6828-A77C-CD6A3F087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C273A-67D3-A799-33B4-7C24869FB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32CB-7144-499D-ABA6-1897D1C96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562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over/>
      </p:transition>
    </mc:Choice>
    <mc:Fallback xmlns="">
      <p:transition>
        <p:cover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6A8F5-D47E-E29F-A673-D2A0D1295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A91FF-23F0-4B80-C27F-2764BBDEF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0061D1-5A35-DE9F-0B5D-2C612D309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D2AF6A-8388-68F9-F8BF-1D35E091C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121D4-799A-416C-98A3-354DFD65724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702E4-16F1-D462-2459-682079EEF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84D98-8BAD-87C7-CB7C-94676A054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32CB-7144-499D-ABA6-1897D1C96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297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over/>
      </p:transition>
    </mc:Choice>
    <mc:Fallback xmlns="">
      <p:transition>
        <p:cover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F584A-974C-313F-AEED-D79CE322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5C27EB-D5C5-DF6E-69B2-59F37D7A2F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34EC9E-A3D0-AE2B-F526-5BD0DA914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C5F666-773B-A9DE-2F40-F352917C1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121D4-799A-416C-98A3-354DFD65724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34F80-17D1-87C6-29F3-A6380B15C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1EFF6-53B9-1B28-BB3A-DCF7A6C74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32CB-7144-499D-ABA6-1897D1C96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147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over/>
      </p:transition>
    </mc:Choice>
    <mc:Fallback xmlns="">
      <p:transition>
        <p:cover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D16D0-3F60-9A74-34B0-E1AB69C82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37C834-4845-3A35-034B-0D1CB946D5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A567C-2F9F-4F45-C2FA-617C20549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121D4-799A-416C-98A3-354DFD65724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E1E2C-9488-DB65-1D79-8A7F9039E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6FEC8-728C-A248-8137-C095DC01B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32CB-7144-499D-ABA6-1897D1C96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066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over/>
      </p:transition>
    </mc:Choice>
    <mc:Fallback xmlns="">
      <p:transition>
        <p:cover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C1C4C1-C1B4-301A-A7BE-7EB5CE164A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B35019-CBC8-C842-19D6-17645FD1C9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99E6D-CFA8-E80A-B520-5E95F9A76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121D4-799A-416C-98A3-354DFD65724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EFC87-9875-932E-8424-031E2972E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04B68-86F7-21D0-A27D-9E0D44EAC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232CB-7144-499D-ABA6-1897D1C96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991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over/>
      </p:transition>
    </mc:Choice>
    <mc:Fallback xmlns="">
      <p:transition>
        <p:cover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159B12-9F92-46CF-094B-EE5335DDA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E9851-A41C-7CF8-4E85-0CCBB18BD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F4A41-055B-2185-6F9C-2D00B6C4D4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121D4-799A-416C-98A3-354DFD65724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73AE2-C628-7EB9-3FCC-85A243D51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985CA-9277-FBD1-6434-645FED23D3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232CB-7144-499D-ABA6-1897D1C96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20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400">
        <p:cover/>
      </p:transition>
    </mc:Choice>
    <mc:Fallback xmlns="">
      <p:transition>
        <p:cover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anath-avinash.github.io/BatchSched/login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Ganath-Avinash/BatchSched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D31E0-C14C-380E-2495-2D9CCE6C4B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Capstone Project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AC62CC-513D-7075-ADBA-578D02AE19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155768"/>
            <a:ext cx="9144000" cy="1655762"/>
          </a:xfrm>
        </p:spPr>
        <p:txBody>
          <a:bodyPr/>
          <a:lstStyle/>
          <a:p>
            <a:r>
              <a:rPr lang="en-US" dirty="0"/>
              <a:t>Project Title : Online Batch Job Scheduling System</a:t>
            </a:r>
          </a:p>
          <a:p>
            <a:r>
              <a:rPr lang="en-US" dirty="0"/>
              <a:t>Course : Design and Analysis of Algorithms</a:t>
            </a:r>
          </a:p>
          <a:p>
            <a:r>
              <a:rPr lang="en-US" dirty="0"/>
              <a:t>Roll No : CH.SC.U4CSE24118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603026-D6D3-5D0E-D47D-E1B3CB011789}"/>
              </a:ext>
            </a:extLst>
          </p:cNvPr>
          <p:cNvSpPr/>
          <p:nvPr/>
        </p:nvSpPr>
        <p:spPr>
          <a:xfrm>
            <a:off x="585019" y="400664"/>
            <a:ext cx="11021961" cy="605667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48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over/>
      </p:transition>
    </mc:Choice>
    <mc:Fallback xmlns="">
      <p:transition>
        <p:cover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E8432-3E38-D01C-9191-4855BF673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Problem Statement (In short) :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34FD1-71EF-9DC3-D15B-024255A2B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993"/>
            <a:ext cx="10515600" cy="4351338"/>
          </a:xfrm>
        </p:spPr>
        <p:txBody>
          <a:bodyPr/>
          <a:lstStyle/>
          <a:p>
            <a:endParaRPr lang="en-US" dirty="0"/>
          </a:p>
          <a:p>
            <a:r>
              <a:rPr lang="en-US" sz="2400" dirty="0"/>
              <a:t>Number 3 :  (What does future hold?)</a:t>
            </a:r>
          </a:p>
          <a:p>
            <a:r>
              <a:rPr lang="en-US" sz="2400" dirty="0"/>
              <a:t>Design a </a:t>
            </a:r>
            <a:r>
              <a:rPr lang="en-US" sz="2400" b="1" dirty="0"/>
              <a:t>batch processing scheduler</a:t>
            </a:r>
            <a:r>
              <a:rPr lang="en-US" sz="2400" dirty="0"/>
              <a:t> that selects </a:t>
            </a:r>
            <a:r>
              <a:rPr lang="en-US" sz="2400" b="1" dirty="0"/>
              <a:t>N jobs for today’s execution</a:t>
            </a:r>
            <a:r>
              <a:rPr lang="en-US" sz="2400" dirty="0"/>
              <a:t> from a set of pending jobs. Each job has a </a:t>
            </a:r>
            <a:r>
              <a:rPr lang="en-US" sz="2400" b="1" dirty="0"/>
              <a:t>compute requirement (Cᵢ)</a:t>
            </a:r>
            <a:r>
              <a:rPr lang="en-US" sz="2400" dirty="0"/>
              <a:t> and a </a:t>
            </a:r>
            <a:r>
              <a:rPr lang="en-US" sz="2400" b="1" dirty="0"/>
              <a:t>deadline (Dᵢ)</a:t>
            </a:r>
            <a:r>
              <a:rPr lang="en-US" sz="2400" dirty="0"/>
              <a:t>. The scheduler must ensure that selected jobs can be </a:t>
            </a:r>
            <a:r>
              <a:rPr lang="en-US" sz="2400" b="1" dirty="0"/>
              <a:t>completed before their deadlines</a:t>
            </a:r>
            <a:r>
              <a:rPr lang="en-US" sz="2400" dirty="0"/>
              <a:t>, while </a:t>
            </a:r>
            <a:r>
              <a:rPr lang="en-US" sz="2400" b="1" dirty="0"/>
              <a:t>balancing the compute load across days</a:t>
            </a:r>
            <a:r>
              <a:rPr lang="en-US" sz="2400" dirty="0"/>
              <a:t> for system stability.</a:t>
            </a:r>
          </a:p>
          <a:p>
            <a:r>
              <a:rPr lang="en-US" sz="2400" dirty="0"/>
              <a:t>Since </a:t>
            </a:r>
            <a:r>
              <a:rPr lang="en-US" sz="2400" b="1" dirty="0"/>
              <a:t>future job arrivals are unknown</a:t>
            </a:r>
            <a:r>
              <a:rPr lang="en-US" sz="2400" dirty="0"/>
              <a:t>, the scheduler must make </a:t>
            </a:r>
            <a:r>
              <a:rPr lang="en-US" sz="2400" b="1" dirty="0"/>
              <a:t>robust decisions using only current information</a:t>
            </a:r>
            <a:r>
              <a:rPr lang="en-US" sz="2400" dirty="0"/>
              <a:t>, ensuring today's selection remains efficient even if more urgent jobs appear later.</a:t>
            </a:r>
          </a:p>
          <a:p>
            <a:r>
              <a:rPr lang="en-US" sz="2400" dirty="0"/>
              <a:t>Output Format: </a:t>
            </a:r>
            <a:r>
              <a:rPr lang="en-US" sz="2400" b="1" dirty="0"/>
              <a:t>List of N jobs selected for execution today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31D500-9084-7F7E-C99F-89AD192329CD}"/>
              </a:ext>
            </a:extLst>
          </p:cNvPr>
          <p:cNvSpPr/>
          <p:nvPr/>
        </p:nvSpPr>
        <p:spPr>
          <a:xfrm>
            <a:off x="585019" y="400664"/>
            <a:ext cx="11021961" cy="605667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908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over/>
      </p:transition>
    </mc:Choice>
    <mc:Fallback xmlns="">
      <p:transition>
        <p:cover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4BA21-5313-BBB3-A5DC-12F076F85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5586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Understanding and Analyzing The Problem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33979-0540-2D68-F4AE-CE4821D1B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5563"/>
            <a:ext cx="10891683" cy="516193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000" dirty="0"/>
              <a:t>The problem is more related to a </a:t>
            </a:r>
            <a:r>
              <a:rPr lang="en-US" sz="2000" b="1" dirty="0"/>
              <a:t>Online Job Scheduling System </a:t>
            </a:r>
            <a:r>
              <a:rPr lang="en-US" sz="2000" dirty="0"/>
              <a:t>where decisions must be made </a:t>
            </a:r>
            <a:r>
              <a:rPr lang="en-US" sz="2000" b="1" dirty="0"/>
              <a:t>without knowledge of future</a:t>
            </a:r>
          </a:p>
          <a:p>
            <a:pPr marL="0" indent="0">
              <a:buNone/>
            </a:pPr>
            <a:r>
              <a:rPr lang="en-US" sz="2000" b="1" dirty="0"/>
              <a:t> inputs.</a:t>
            </a:r>
            <a:endParaRPr lang="en-US" sz="2000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Challenges given :</a:t>
            </a:r>
          </a:p>
          <a:p>
            <a:pPr marL="514350" indent="-514350">
              <a:buFont typeface="+mj-lt"/>
              <a:buAutoNum type="romanUcPeriod"/>
            </a:pPr>
            <a:r>
              <a:rPr lang="en-IN" sz="2000" dirty="0"/>
              <a:t>Deadline sensitivity </a:t>
            </a:r>
          </a:p>
          <a:p>
            <a:pPr marL="514350" indent="-514350">
              <a:buFont typeface="+mj-lt"/>
              <a:buAutoNum type="romanUcPeriod"/>
            </a:pPr>
            <a:r>
              <a:rPr lang="en-IN" sz="2000" dirty="0"/>
              <a:t>Compute load variability </a:t>
            </a:r>
          </a:p>
          <a:p>
            <a:pPr marL="514350" indent="-514350">
              <a:buFont typeface="+mj-lt"/>
              <a:buAutoNum type="romanUcPeriod"/>
            </a:pPr>
            <a:r>
              <a:rPr lang="en-IN" sz="2000" dirty="0"/>
              <a:t>No look-ahead capability - </a:t>
            </a:r>
            <a:r>
              <a:rPr lang="en-US" sz="2000" dirty="0"/>
              <a:t>Future job arrivals are unknown.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Key Insight from my understanding :</a:t>
            </a:r>
          </a:p>
          <a:p>
            <a:pPr marL="0" indent="0">
              <a:buNone/>
            </a:pPr>
            <a:r>
              <a:rPr lang="en-US" sz="2000" dirty="0"/>
              <a:t>To maintain </a:t>
            </a:r>
            <a:r>
              <a:rPr lang="en-IN" sz="2100" b="1" dirty="0"/>
              <a:t>stability</a:t>
            </a:r>
            <a:r>
              <a:rPr lang="en-US" sz="2000" dirty="0"/>
              <a:t> we need to ensure 2 things :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000" dirty="0"/>
              <a:t>Firstly, earlier deadline should be of more priority (Major)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000" dirty="0"/>
              <a:t>Secondly, computing load which is chosen should be small (This happens if 2 deadlines are equal)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000" dirty="0"/>
              <a:t>Missing a deadline is far worse than having a small imbalanced load in a day (This is why I have taken deadline as the first priority)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This solution ensures :</a:t>
            </a:r>
          </a:p>
          <a:p>
            <a:r>
              <a:rPr lang="en-US" sz="2000" dirty="0"/>
              <a:t>Urgent jobs are handled</a:t>
            </a:r>
          </a:p>
          <a:p>
            <a:r>
              <a:rPr lang="en-US" sz="2000" dirty="0"/>
              <a:t>Workload remains smooth (Over an average)</a:t>
            </a:r>
          </a:p>
          <a:p>
            <a:r>
              <a:rPr lang="en-US" sz="2000" dirty="0"/>
              <a:t>Scheduling remains robust under uncertainty.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79BE7F-7344-D91A-8B91-8A3167935C0E}"/>
              </a:ext>
            </a:extLst>
          </p:cNvPr>
          <p:cNvSpPr/>
          <p:nvPr/>
        </p:nvSpPr>
        <p:spPr>
          <a:xfrm>
            <a:off x="585019" y="370502"/>
            <a:ext cx="11021961" cy="605667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35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over/>
      </p:transition>
    </mc:Choice>
    <mc:Fallback xmlns="">
      <p:transition>
        <p:cover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7A32B-5084-A7E0-8DA9-90E75C19B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Algorithmic Approach &amp; Design </a:t>
            </a:r>
            <a:br>
              <a:rPr lang="en-US" sz="4000" dirty="0"/>
            </a:br>
            <a:r>
              <a:rPr lang="en-US" sz="4000" dirty="0"/>
              <a:t>(Inc. Justification)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02F0F-2D2A-E153-9903-91C863599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110316" cy="4351338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Design of the Algo</a:t>
            </a:r>
          </a:p>
          <a:p>
            <a:pPr marL="0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US" dirty="0"/>
              <a:t>Input: Jobs J with compute </a:t>
            </a:r>
            <a:r>
              <a:rPr lang="en-US" dirty="0" err="1"/>
              <a:t>C_i</a:t>
            </a:r>
            <a:r>
              <a:rPr lang="en-US" dirty="0"/>
              <a:t> and deadline </a:t>
            </a:r>
            <a:r>
              <a:rPr lang="en-US" dirty="0" err="1"/>
              <a:t>D_i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Input: Current day T</a:t>
            </a:r>
          </a:p>
          <a:p>
            <a:pPr marL="457200" lvl="1" indent="0">
              <a:buNone/>
            </a:pPr>
            <a:r>
              <a:rPr lang="en-US" dirty="0"/>
              <a:t>Input: Number of jobs to schedule N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1. Remove all jobs where </a:t>
            </a:r>
            <a:r>
              <a:rPr lang="en-US" dirty="0" err="1"/>
              <a:t>D_i</a:t>
            </a:r>
            <a:r>
              <a:rPr lang="en-US" dirty="0"/>
              <a:t> &lt; T</a:t>
            </a:r>
          </a:p>
          <a:p>
            <a:pPr marL="457200" lvl="1" indent="0">
              <a:buNone/>
            </a:pPr>
            <a:r>
              <a:rPr lang="en-US" dirty="0"/>
              <a:t>2. Sort remaining jobs by:</a:t>
            </a:r>
          </a:p>
          <a:p>
            <a:pPr marL="457200" lvl="1" indent="0">
              <a:buNone/>
            </a:pPr>
            <a:r>
              <a:rPr lang="en-US" dirty="0"/>
              <a:t>      a) Earliest deadline first</a:t>
            </a:r>
          </a:p>
          <a:p>
            <a:pPr marL="457200" lvl="1" indent="0">
              <a:buNone/>
            </a:pPr>
            <a:r>
              <a:rPr lang="en-US" dirty="0"/>
              <a:t>      b) Smallest compute requirement</a:t>
            </a:r>
          </a:p>
          <a:p>
            <a:pPr marL="457200" lvl="1" indent="0">
              <a:buNone/>
            </a:pPr>
            <a:r>
              <a:rPr lang="en-US" dirty="0"/>
              <a:t>3. Select first N jobs from sorted list</a:t>
            </a:r>
          </a:p>
          <a:p>
            <a:pPr marL="457200" lvl="1" indent="0">
              <a:buNone/>
            </a:pPr>
            <a:r>
              <a:rPr lang="en-US" dirty="0"/>
              <a:t>4. Execute selected jobs</a:t>
            </a:r>
          </a:p>
          <a:p>
            <a:pPr marL="457200" lvl="1" indent="0">
              <a:buNone/>
            </a:pPr>
            <a:r>
              <a:rPr lang="en-US" dirty="0"/>
              <a:t>5. Store remaining jobs as backlog</a:t>
            </a:r>
          </a:p>
          <a:p>
            <a:pPr marL="457200" lvl="1" indent="0">
              <a:buNone/>
            </a:pPr>
            <a:r>
              <a:rPr lang="en-US" dirty="0"/>
              <a:t>6. Compute metrics:</a:t>
            </a:r>
          </a:p>
          <a:p>
            <a:pPr marL="457200" lvl="1" indent="0">
              <a:buNone/>
            </a:pPr>
            <a:r>
              <a:rPr lang="en-US" dirty="0"/>
              <a:t>      total compute load</a:t>
            </a:r>
          </a:p>
          <a:p>
            <a:pPr marL="457200" lvl="1" indent="0">
              <a:buNone/>
            </a:pPr>
            <a:r>
              <a:rPr lang="en-US" dirty="0"/>
              <a:t>      backlog size</a:t>
            </a:r>
          </a:p>
          <a:p>
            <a:pPr marL="457200" lvl="1" indent="0">
              <a:buNone/>
            </a:pPr>
            <a:r>
              <a:rPr lang="en-US" dirty="0"/>
              <a:t>      expired job count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87EB4C-2665-A72B-0817-A32CC226F0CB}"/>
              </a:ext>
            </a:extLst>
          </p:cNvPr>
          <p:cNvSpPr txBox="1"/>
          <p:nvPr/>
        </p:nvSpPr>
        <p:spPr>
          <a:xfrm>
            <a:off x="6656439" y="1825625"/>
            <a:ext cx="486696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Why This Algo ?</a:t>
            </a:r>
          </a:p>
          <a:p>
            <a:endParaRPr lang="en-IN" dirty="0"/>
          </a:p>
          <a:p>
            <a:r>
              <a:rPr lang="en-IN" dirty="0"/>
              <a:t>There could have been more possibilities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EDF + SCF  -&gt; (Most efficient)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EDF + LCF  -&gt; (Okay moderately)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EDF + RCF -&gt; (Better than LCF)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NOT EDF   -&gt; (Worst among all)</a:t>
            </a:r>
          </a:p>
          <a:p>
            <a:endParaRPr lang="en-IN" dirty="0"/>
          </a:p>
          <a:p>
            <a:r>
              <a:rPr lang="en-IN" dirty="0"/>
              <a:t>Abbreviations : </a:t>
            </a:r>
          </a:p>
          <a:p>
            <a:endParaRPr lang="en-IN" dirty="0"/>
          </a:p>
          <a:p>
            <a:r>
              <a:rPr lang="en-IN" dirty="0"/>
              <a:t>	 EDF -&gt; Early Deadline First</a:t>
            </a:r>
          </a:p>
          <a:p>
            <a:r>
              <a:rPr lang="en-IN" dirty="0"/>
              <a:t>	 LCF -&gt; Larger Compute First </a:t>
            </a:r>
          </a:p>
          <a:p>
            <a:r>
              <a:rPr lang="en-IN" dirty="0"/>
              <a:t>	 SCF -&gt; Shorter Compute First 	</a:t>
            </a:r>
          </a:p>
          <a:p>
            <a:r>
              <a:rPr lang="en-IN" dirty="0"/>
              <a:t>	 RCF -&gt; Random Compute First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01DED3-C446-B52A-946B-CE14CED5B061}"/>
              </a:ext>
            </a:extLst>
          </p:cNvPr>
          <p:cNvSpPr/>
          <p:nvPr/>
        </p:nvSpPr>
        <p:spPr>
          <a:xfrm>
            <a:off x="585019" y="400664"/>
            <a:ext cx="11021961" cy="605667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987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over/>
      </p:transition>
    </mc:Choice>
    <mc:Fallback xmlns="">
      <p:transition>
        <p:cover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50A8C-FA3D-E6DA-054D-1A6E2A3FF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211" y="205241"/>
            <a:ext cx="10515600" cy="1325563"/>
          </a:xfrm>
        </p:spPr>
        <p:txBody>
          <a:bodyPr>
            <a:normAutofit/>
          </a:bodyPr>
          <a:lstStyle/>
          <a:p>
            <a:r>
              <a:rPr lang="en-IN" sz="3800" dirty="0"/>
              <a:t>Clear Justification Of Algorithm (By comparing)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0988EA-F5CB-067D-1661-683277749FE9}"/>
              </a:ext>
            </a:extLst>
          </p:cNvPr>
          <p:cNvSpPr/>
          <p:nvPr/>
        </p:nvSpPr>
        <p:spPr>
          <a:xfrm>
            <a:off x="585019" y="400664"/>
            <a:ext cx="11021961" cy="605667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3AE0D7-8EC8-1205-48A6-A09D632056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514178"/>
              </p:ext>
            </p:extLst>
          </p:nvPr>
        </p:nvGraphicFramePr>
        <p:xfrm>
          <a:off x="830211" y="1558994"/>
          <a:ext cx="10291915" cy="2104540"/>
        </p:xfrm>
        <a:graphic>
          <a:graphicData uri="http://schemas.openxmlformats.org/drawingml/2006/table">
            <a:tbl>
              <a:tblPr/>
              <a:tblGrid>
                <a:gridCol w="2058383">
                  <a:extLst>
                    <a:ext uri="{9D8B030D-6E8A-4147-A177-3AD203B41FA5}">
                      <a16:colId xmlns:a16="http://schemas.microsoft.com/office/drawing/2014/main" val="4080042902"/>
                    </a:ext>
                  </a:extLst>
                </a:gridCol>
                <a:gridCol w="2058383">
                  <a:extLst>
                    <a:ext uri="{9D8B030D-6E8A-4147-A177-3AD203B41FA5}">
                      <a16:colId xmlns:a16="http://schemas.microsoft.com/office/drawing/2014/main" val="1782202890"/>
                    </a:ext>
                  </a:extLst>
                </a:gridCol>
                <a:gridCol w="2058383">
                  <a:extLst>
                    <a:ext uri="{9D8B030D-6E8A-4147-A177-3AD203B41FA5}">
                      <a16:colId xmlns:a16="http://schemas.microsoft.com/office/drawing/2014/main" val="6684043"/>
                    </a:ext>
                  </a:extLst>
                </a:gridCol>
                <a:gridCol w="2058383">
                  <a:extLst>
                    <a:ext uri="{9D8B030D-6E8A-4147-A177-3AD203B41FA5}">
                      <a16:colId xmlns:a16="http://schemas.microsoft.com/office/drawing/2014/main" val="3503898770"/>
                    </a:ext>
                  </a:extLst>
                </a:gridCol>
                <a:gridCol w="2058383">
                  <a:extLst>
                    <a:ext uri="{9D8B030D-6E8A-4147-A177-3AD203B41FA5}">
                      <a16:colId xmlns:a16="http://schemas.microsoft.com/office/drawing/2014/main" val="1191873839"/>
                    </a:ext>
                  </a:extLst>
                </a:gridCol>
              </a:tblGrid>
              <a:tr h="420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Strategy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Deadline Handling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Load Balance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Robustness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Overall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8113482"/>
                  </a:ext>
                </a:extLst>
              </a:tr>
              <a:tr h="420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EDF + SCF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Excellent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Smooth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2972596"/>
                  </a:ext>
                </a:extLst>
              </a:tr>
              <a:tr h="420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EDF + RCF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Unpredictable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260566"/>
                  </a:ext>
                </a:extLst>
              </a:tr>
              <a:tr h="420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EDF + LCF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Load Spikes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Below Average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397582"/>
                  </a:ext>
                </a:extLst>
              </a:tr>
              <a:tr h="420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EDF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Very 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Worst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71219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98E1127-4D60-0396-11A1-F3FD7CE519E7}"/>
              </a:ext>
            </a:extLst>
          </p:cNvPr>
          <p:cNvSpPr txBox="1"/>
          <p:nvPr/>
        </p:nvSpPr>
        <p:spPr>
          <a:xfrm>
            <a:off x="2766552" y="4246736"/>
            <a:ext cx="231795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Day1 : ████</a:t>
            </a:r>
          </a:p>
          <a:p>
            <a:endParaRPr lang="en-IN" dirty="0"/>
          </a:p>
          <a:p>
            <a:r>
              <a:rPr lang="en-IN" dirty="0"/>
              <a:t>Day2 : █████</a:t>
            </a:r>
          </a:p>
          <a:p>
            <a:endParaRPr lang="en-IN" dirty="0"/>
          </a:p>
          <a:p>
            <a:r>
              <a:rPr lang="en-IN" dirty="0"/>
              <a:t>Day3 : ████</a:t>
            </a:r>
          </a:p>
          <a:p>
            <a:endParaRPr lang="en-IN" dirty="0"/>
          </a:p>
          <a:p>
            <a:r>
              <a:rPr lang="en-IN" dirty="0"/>
              <a:t>Day4 : █████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577C7C-32FA-CE8B-D166-7585ED12F966}"/>
              </a:ext>
            </a:extLst>
          </p:cNvPr>
          <p:cNvSpPr txBox="1"/>
          <p:nvPr/>
        </p:nvSpPr>
        <p:spPr>
          <a:xfrm>
            <a:off x="8266471" y="4246736"/>
            <a:ext cx="300129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Day1 : ███████████</a:t>
            </a:r>
          </a:p>
          <a:p>
            <a:endParaRPr lang="en-IN" dirty="0"/>
          </a:p>
          <a:p>
            <a:r>
              <a:rPr lang="en-IN" dirty="0"/>
              <a:t>Day2 : ██</a:t>
            </a:r>
          </a:p>
          <a:p>
            <a:endParaRPr lang="en-IN" dirty="0"/>
          </a:p>
          <a:p>
            <a:r>
              <a:rPr lang="en-IN" dirty="0"/>
              <a:t>Day3 : █</a:t>
            </a:r>
          </a:p>
          <a:p>
            <a:endParaRPr lang="en-IN" dirty="0"/>
          </a:p>
          <a:p>
            <a:r>
              <a:rPr lang="en-IN" dirty="0"/>
              <a:t>Day4 : ██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4A56F6-9E73-370F-1063-E508E8B55A1C}"/>
              </a:ext>
            </a:extLst>
          </p:cNvPr>
          <p:cNvSpPr txBox="1"/>
          <p:nvPr/>
        </p:nvSpPr>
        <p:spPr>
          <a:xfrm>
            <a:off x="6575322" y="4246736"/>
            <a:ext cx="1691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EDF +LCF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90F9B5-E3E5-61BB-C72A-16C547048561}"/>
              </a:ext>
            </a:extLst>
          </p:cNvPr>
          <p:cNvSpPr txBox="1"/>
          <p:nvPr/>
        </p:nvSpPr>
        <p:spPr>
          <a:xfrm>
            <a:off x="830211" y="4246736"/>
            <a:ext cx="1691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EDF +SCF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87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over/>
      </p:transition>
    </mc:Choice>
    <mc:Fallback xmlns="">
      <p:transition>
        <p:cover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D6C74-4424-8154-17E2-CE5EB9505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Algorithmic Analysis on Asymptotic Notations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9B15E-BF88-06A0-E205-E58C7C598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L</a:t>
            </a:r>
            <a:r>
              <a:rPr lang="en-US" altLang="en-US" dirty="0"/>
              <a:t>et </a:t>
            </a:r>
            <a:r>
              <a:rPr lang="en-US" altLang="en-US" b="1" dirty="0"/>
              <a:t>j</a:t>
            </a:r>
            <a:r>
              <a:rPr lang="en-US" altLang="en-US" dirty="0"/>
              <a:t> be the number of jobs. </a:t>
            </a:r>
            <a:endParaRPr lang="en-US" altLang="en-US" sz="1800" dirty="0"/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41B8338-E55A-B2D9-747F-D75A4DAEFB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59947212"/>
                  </p:ext>
                </p:extLst>
              </p:nvPr>
            </p:nvGraphicFramePr>
            <p:xfrm>
              <a:off x="1101212" y="2437965"/>
              <a:ext cx="10515600" cy="1828800"/>
            </p:xfrm>
            <a:graphic>
              <a:graphicData uri="http://schemas.openxmlformats.org/drawingml/2006/table">
                <a:tbl>
                  <a:tblPr/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1581293286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376496827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 dirty="0"/>
                            <a:t>Operation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 dirty="0"/>
                            <a:t>Complexity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8412736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Remove expired jobs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O(j)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64611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Sorting using Merge Sort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O(j log j)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1112497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Selecting N jobs </a:t>
                          </a:r>
                          <a:r>
                            <a:rPr lang="en-US" altLang="en-US" sz="1400" dirty="0"/>
                            <a:t>(N </a:t>
                          </a:r>
                          <a:r>
                            <a:rPr lang="en-IN" sz="1400" dirty="0"/>
                            <a:t>≤ j)</a:t>
                          </a:r>
                          <a:endParaRPr lang="en-IN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O(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r>
                            <a:rPr lang="en-IN" dirty="0"/>
                            <a:t>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2269624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Metric calculation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O(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r>
                            <a:rPr lang="en-IN" dirty="0"/>
                            <a:t>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031874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41B8338-E55A-B2D9-747F-D75A4DAEFB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59947212"/>
                  </p:ext>
                </p:extLst>
              </p:nvPr>
            </p:nvGraphicFramePr>
            <p:xfrm>
              <a:off x="1101212" y="2437965"/>
              <a:ext cx="10515600" cy="1828800"/>
            </p:xfrm>
            <a:graphic>
              <a:graphicData uri="http://schemas.openxmlformats.org/drawingml/2006/table">
                <a:tbl>
                  <a:tblPr/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1581293286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376496827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 dirty="0"/>
                            <a:t>Operation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 dirty="0"/>
                            <a:t>Complexity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8412736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Remove expired jobs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O(j)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646113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Sorting using Merge Sort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O(j log j)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1112497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Selecting N jobs </a:t>
                          </a:r>
                          <a:r>
                            <a:rPr lang="en-US" altLang="en-US" sz="1400" dirty="0"/>
                            <a:t>(N </a:t>
                          </a:r>
                          <a:r>
                            <a:rPr lang="en-IN" sz="1400" dirty="0"/>
                            <a:t>≤ j)</a:t>
                          </a:r>
                          <a:endParaRPr lang="en-IN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100000" t="-310000" b="-1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2269624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Metric calculation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100000" t="-410000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031874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B3FDB9A-96D2-B5E2-4888-633F982A1EA0}"/>
                  </a:ext>
                </a:extLst>
              </p:cNvPr>
              <p:cNvSpPr txBox="1"/>
              <p:nvPr/>
            </p:nvSpPr>
            <p:spPr>
              <a:xfrm>
                <a:off x="1101212" y="4549676"/>
                <a:ext cx="9370143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Merge Sort has more time complexity among all therefore that will be chosen as this program’s overall complexity</a:t>
                </a:r>
              </a:p>
              <a:p>
                <a:r>
                  <a:rPr lang="en-IN" dirty="0"/>
                  <a:t>Hence,</a:t>
                </a:r>
              </a:p>
              <a:p>
                <a:endParaRPr lang="en-IN" dirty="0"/>
              </a:p>
              <a:p>
                <a:r>
                  <a:rPr lang="en-IN" b="1" dirty="0"/>
                  <a:t>Overall Time Complexity</a:t>
                </a:r>
                <a14:m>
                  <m:oMath xmlns:m="http://schemas.openxmlformats.org/officeDocument/2006/math">
                    <m:r>
                      <a:rPr lang="en-IN" b="1" i="0" smtClean="0">
                        <a:latin typeface="Cambria Math" panose="02040503050406030204" pitchFamily="18" charset="0"/>
                      </a:rPr>
                      <m:t> :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func>
                          <m:func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 </a:t>
                </a:r>
                <a:r>
                  <a:rPr lang="en-US" i="1" dirty="0">
                    <a:sym typeface="Wingdings" panose="05000000000000000000" pitchFamily="2" charset="2"/>
                  </a:rPr>
                  <a:t>O(j log j + N)  O(j log j)  </a:t>
                </a:r>
                <a:endParaRPr lang="en-US" i="1" dirty="0"/>
              </a:p>
              <a:p>
                <a:r>
                  <a:rPr lang="en-IN" b="1" dirty="0"/>
                  <a:t>Space Complexity</a:t>
                </a:r>
                <a14:m>
                  <m:oMath xmlns:m="http://schemas.openxmlformats.org/officeDocument/2006/math">
                    <m:r>
                      <a:rPr lang="en-IN" b="1" i="0" smtClean="0">
                        <a:latin typeface="Cambria Math" panose="02040503050406030204" pitchFamily="18" charset="0"/>
                      </a:rPr>
                      <m:t>  :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B3FDB9A-96D2-B5E2-4888-633F982A1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212" y="4549676"/>
                <a:ext cx="9370143" cy="2031325"/>
              </a:xfrm>
              <a:prstGeom prst="rect">
                <a:avLst/>
              </a:prstGeom>
              <a:blipFill>
                <a:blip r:embed="rId4"/>
                <a:stretch>
                  <a:fillRect l="-586" t="-14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329736CD-92FD-94C3-50BE-DD8331E7E10E}"/>
              </a:ext>
            </a:extLst>
          </p:cNvPr>
          <p:cNvSpPr/>
          <p:nvPr/>
        </p:nvSpPr>
        <p:spPr>
          <a:xfrm>
            <a:off x="585019" y="400664"/>
            <a:ext cx="11021961" cy="605667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87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over/>
      </p:transition>
    </mc:Choice>
    <mc:Fallback xmlns="">
      <p:transition>
        <p:cover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7008E-9B8B-B331-3543-2CDD53C4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5972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/>
              <a:t>Example Problem (Solved in 2 ways) :</a:t>
            </a:r>
          </a:p>
        </p:txBody>
      </p:sp>
      <p:graphicFrame>
        <p:nvGraphicFramePr>
          <p:cNvPr id="56" name="Content Placeholder 55">
            <a:extLst>
              <a:ext uri="{FF2B5EF4-FFF2-40B4-BE49-F238E27FC236}">
                <a16:creationId xmlns:a16="http://schemas.microsoft.com/office/drawing/2014/main" id="{698952CF-B601-507F-8918-6869770A5B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1497542"/>
              </p:ext>
            </p:extLst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8404127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7538618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311826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390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902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982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658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140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 =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686779"/>
                  </a:ext>
                </a:extLst>
              </a:tr>
            </a:tbl>
          </a:graphicData>
        </a:graphic>
      </p:graphicFrame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3A3A473E-6CD8-E1C9-6299-F358410D9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26799"/>
              </p:ext>
            </p:extLst>
          </p:nvPr>
        </p:nvGraphicFramePr>
        <p:xfrm>
          <a:off x="838200" y="2331720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454624011"/>
                    </a:ext>
                  </a:extLst>
                </a:gridCol>
                <a:gridCol w="3158613">
                  <a:extLst>
                    <a:ext uri="{9D8B030D-6E8A-4147-A177-3AD203B41FA5}">
                      <a16:colId xmlns:a16="http://schemas.microsoft.com/office/drawing/2014/main" val="2053743377"/>
                    </a:ext>
                  </a:extLst>
                </a:gridCol>
                <a:gridCol w="3851787">
                  <a:extLst>
                    <a:ext uri="{9D8B030D-6E8A-4147-A177-3AD203B41FA5}">
                      <a16:colId xmlns:a16="http://schemas.microsoft.com/office/drawing/2014/main" val="42518178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Job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Compute (Ci)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Deadline (Di)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787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1799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J2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086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397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229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086272"/>
                  </a:ext>
                </a:extLst>
              </a:tr>
            </a:tbl>
          </a:graphicData>
        </a:graphic>
      </p:graphicFrame>
      <p:sp>
        <p:nvSpPr>
          <p:cNvPr id="58" name="Rectangle 27">
            <a:extLst>
              <a:ext uri="{FF2B5EF4-FFF2-40B4-BE49-F238E27FC236}">
                <a16:creationId xmlns:a16="http://schemas.microsoft.com/office/drawing/2014/main" id="{0280B162-A1FE-1102-2661-DC344AC33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96123"/>
            <a:ext cx="395076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Available jobs today: (Current Day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626151E2-4AA4-0411-083B-D75BEFB9E5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992280"/>
              </p:ext>
            </p:extLst>
          </p:nvPr>
        </p:nvGraphicFramePr>
        <p:xfrm>
          <a:off x="838200" y="5305108"/>
          <a:ext cx="10515600" cy="7315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28526961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4106382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359950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Job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Deadline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11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577883"/>
                  </a:ext>
                </a:extLst>
              </a:tr>
            </a:tbl>
          </a:graphicData>
        </a:graphic>
      </p:graphicFrame>
      <p:sp>
        <p:nvSpPr>
          <p:cNvPr id="62" name="Rectangle 28">
            <a:extLst>
              <a:ext uri="{FF2B5EF4-FFF2-40B4-BE49-F238E27FC236}">
                <a16:creationId xmlns:a16="http://schemas.microsoft.com/office/drawing/2014/main" id="{992CC4EE-9A35-2D58-AA15-E16BCA895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710112"/>
            <a:ext cx="539128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Tomorrow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urgent job will arrive (assume)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6DF8AE-9EC1-77A1-0D2A-D807A7BE6C31}"/>
              </a:ext>
            </a:extLst>
          </p:cNvPr>
          <p:cNvSpPr/>
          <p:nvPr/>
        </p:nvSpPr>
        <p:spPr>
          <a:xfrm>
            <a:off x="585019" y="400664"/>
            <a:ext cx="11021961" cy="605667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544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over/>
      </p:transition>
    </mc:Choice>
    <mc:Fallback xmlns="">
      <p:transition>
        <p:cover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1CDCA-36C5-6929-32CF-172BE181C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765FA-B5E1-20BD-203B-30489FEC4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Methods         Jobs Selected             Today Compute Load </a:t>
            </a:r>
          </a:p>
          <a:p>
            <a:pPr marL="0" indent="0">
              <a:buNone/>
            </a:pPr>
            <a:r>
              <a:rPr lang="en-US" dirty="0"/>
              <a:t>EDF + LCF         J1, J3                             13 (Heavy spike)</a:t>
            </a:r>
          </a:p>
          <a:p>
            <a:pPr marL="0" indent="0">
              <a:buNone/>
            </a:pPr>
            <a:r>
              <a:rPr lang="en-US" dirty="0"/>
              <a:t>EDF + SCF         J2, J3                             5 (Balanced) 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D9DCDC-42A5-D2C0-8AAD-EA041A9E9A39}"/>
              </a:ext>
            </a:extLst>
          </p:cNvPr>
          <p:cNvSpPr/>
          <p:nvPr/>
        </p:nvSpPr>
        <p:spPr>
          <a:xfrm>
            <a:off x="585019" y="400664"/>
            <a:ext cx="11021961" cy="605667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193726-2622-6326-C130-B0D9674EBDBE}"/>
              </a:ext>
            </a:extLst>
          </p:cNvPr>
          <p:cNvSpPr txBox="1"/>
          <p:nvPr/>
        </p:nvSpPr>
        <p:spPr>
          <a:xfrm>
            <a:off x="963561" y="4001294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EDF + LCF tends to schedule large compute jobs early, which can cause system load spikes and reduce flexibility for future urgent jobs. </a:t>
            </a:r>
          </a:p>
          <a:p>
            <a:endParaRPr lang="en-US" dirty="0"/>
          </a:p>
          <a:p>
            <a:r>
              <a:rPr lang="en-US" dirty="0"/>
              <a:t>EDF + SCF keeps the workload balanced, making the scheduler more robust in online environments where future jobs are unknown.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011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over/>
      </p:transition>
    </mc:Choice>
    <mc:Fallback xmlns="">
      <p:transition>
        <p:cover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8B9C5-1977-F05D-B0A2-DB5EDA969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Key Concepts &amp; Working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9B939-AB8E-7615-E945-8D3900700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52355" cy="494793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Greedy Approach (Local best choice is made at every point)</a:t>
            </a:r>
          </a:p>
          <a:p>
            <a:r>
              <a:rPr lang="en-IN" dirty="0"/>
              <a:t>Divide and Conquer (Merge Sort)</a:t>
            </a:r>
          </a:p>
          <a:p>
            <a:r>
              <a:rPr lang="en-IN" dirty="0"/>
              <a:t>Job scheduling (Robust) </a:t>
            </a:r>
          </a:p>
          <a:p>
            <a:endParaRPr lang="en-IN" dirty="0"/>
          </a:p>
          <a:p>
            <a:pPr marL="0" indent="0">
              <a:buNone/>
            </a:pPr>
            <a:r>
              <a:rPr lang="en-US" b="1" dirty="0"/>
              <a:t>System Working</a:t>
            </a:r>
          </a:p>
          <a:p>
            <a:r>
              <a:rPr lang="en-US" dirty="0"/>
              <a:t>User inputs jobs with compute units and deadlines.</a:t>
            </a:r>
          </a:p>
          <a:p>
            <a:r>
              <a:rPr lang="en-US" dirty="0"/>
              <a:t>Scheduler removes expired jobs.</a:t>
            </a:r>
          </a:p>
          <a:p>
            <a:r>
              <a:rPr lang="en-US" dirty="0"/>
              <a:t>Jobs are sorted using Earliest Deadline First (EDF) + compute priority (smallest first).</a:t>
            </a:r>
          </a:p>
          <a:p>
            <a:r>
              <a:rPr lang="en-US" dirty="0"/>
              <a:t>First </a:t>
            </a:r>
            <a:r>
              <a:rPr lang="en-US" b="1" dirty="0"/>
              <a:t>N jobs</a:t>
            </a:r>
            <a:r>
              <a:rPr lang="en-US" dirty="0"/>
              <a:t> are selected for execution.</a:t>
            </a:r>
          </a:p>
          <a:p>
            <a:r>
              <a:rPr lang="en-US" dirty="0"/>
              <a:t>Remaining jobs form the backlog for future scheduling.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Links : </a:t>
            </a:r>
            <a:endParaRPr lang="en-IN" sz="1200" dirty="0"/>
          </a:p>
          <a:p>
            <a:r>
              <a:rPr lang="en-IN" sz="1400" dirty="0" err="1">
                <a:hlinkClick r:id="rId3"/>
              </a:rPr>
              <a:t>BatchSched</a:t>
            </a:r>
            <a:r>
              <a:rPr lang="en-IN" sz="1400" dirty="0">
                <a:hlinkClick r:id="rId3"/>
              </a:rPr>
              <a:t> — Sign In</a:t>
            </a:r>
            <a:endParaRPr lang="en-IN" sz="1400" dirty="0"/>
          </a:p>
          <a:p>
            <a:r>
              <a:rPr lang="en-US" sz="1400" dirty="0">
                <a:hlinkClick r:id="rId4"/>
              </a:rPr>
              <a:t>Ganath-Avinash/</a:t>
            </a:r>
            <a:r>
              <a:rPr lang="en-US" sz="1400" dirty="0" err="1">
                <a:hlinkClick r:id="rId4"/>
              </a:rPr>
              <a:t>BatchSched</a:t>
            </a:r>
            <a:r>
              <a:rPr lang="en-US" sz="1400" dirty="0">
                <a:hlinkClick r:id="rId4"/>
              </a:rPr>
              <a:t>: A clear batch scheduling algorithm to avoid future conflicts in scheduling process</a:t>
            </a:r>
            <a:endParaRPr lang="en-IN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73192D-73AC-F4F8-19DF-702CAE47B982}"/>
              </a:ext>
            </a:extLst>
          </p:cNvPr>
          <p:cNvSpPr/>
          <p:nvPr/>
        </p:nvSpPr>
        <p:spPr>
          <a:xfrm>
            <a:off x="585019" y="400664"/>
            <a:ext cx="11021961" cy="605667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336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over/>
      </p:transition>
    </mc:Choice>
    <mc:Fallback xmlns="">
      <p:transition>
        <p:cover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D90D1-9837-782B-9970-5BEB57969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Pseudocode</a:t>
            </a:r>
            <a:r>
              <a:rPr lang="en-US" dirty="0"/>
              <a:t> :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99A20D-1896-9BD4-5A08-AEF19CCD9875}"/>
              </a:ext>
            </a:extLst>
          </p:cNvPr>
          <p:cNvSpPr/>
          <p:nvPr/>
        </p:nvSpPr>
        <p:spPr>
          <a:xfrm>
            <a:off x="585019" y="400664"/>
            <a:ext cx="11021961" cy="605667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Content Placeholder 5">
            <a:extLst>
              <a:ext uri="{FF2B5EF4-FFF2-40B4-BE49-F238E27FC236}">
                <a16:creationId xmlns:a16="http://schemas.microsoft.com/office/drawing/2014/main" id="{C2C956B4-1F17-A63B-7BBD-5BB7904F68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66019" y="1484211"/>
            <a:ext cx="3979606" cy="47463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FE48AE8-3FAC-E0DC-A8C0-526521AB866B}"/>
              </a:ext>
            </a:extLst>
          </p:cNvPr>
          <p:cNvSpPr txBox="1"/>
          <p:nvPr/>
        </p:nvSpPr>
        <p:spPr>
          <a:xfrm>
            <a:off x="5171768" y="5861199"/>
            <a:ext cx="6563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Method of sorting with a </a:t>
            </a:r>
            <a:r>
              <a:rPr lang="en-US" b="1" dirty="0"/>
              <a:t>priority</a:t>
            </a:r>
            <a:r>
              <a:rPr lang="en-US" dirty="0"/>
              <a:t> almost solves half the problem</a:t>
            </a:r>
          </a:p>
        </p:txBody>
      </p:sp>
    </p:spTree>
    <p:extLst>
      <p:ext uri="{BB962C8B-B14F-4D97-AF65-F5344CB8AC3E}">
        <p14:creationId xmlns:p14="http://schemas.microsoft.com/office/powerpoint/2010/main" val="2124265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over/>
      </p:transition>
    </mc:Choice>
    <mc:Fallback xmlns="">
      <p:transition>
        <p:cover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F0E63-7AFB-E21E-D76B-1470B8CDF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540" y="287444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/>
              <a:t>Outputs (Web, CLI)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29B9B70-CAC6-3B1F-10F6-75E09CCC02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45443" y="1484209"/>
            <a:ext cx="9512507" cy="48897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E929FE4-5EF9-476B-D0E5-1A3CDC2CD28C}"/>
              </a:ext>
            </a:extLst>
          </p:cNvPr>
          <p:cNvSpPr/>
          <p:nvPr/>
        </p:nvSpPr>
        <p:spPr>
          <a:xfrm>
            <a:off x="585019" y="400664"/>
            <a:ext cx="11021961" cy="605667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27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over/>
      </p:transition>
    </mc:Choice>
    <mc:Fallback xmlns="">
      <p:transition>
        <p:cover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AB16D-2633-B2A5-BE1D-876CDAF7B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Output (Web)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61A8C84-D970-1C3E-1F0A-1CE2BE5C04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5107" y="1589908"/>
            <a:ext cx="9714265" cy="447659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BCE1A69-EE18-64FC-EA5D-E235A0697287}"/>
              </a:ext>
            </a:extLst>
          </p:cNvPr>
          <p:cNvSpPr/>
          <p:nvPr/>
        </p:nvSpPr>
        <p:spPr>
          <a:xfrm>
            <a:off x="585019" y="400664"/>
            <a:ext cx="11021961" cy="605667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025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over/>
      </p:transition>
    </mc:Choice>
    <mc:Fallback xmlns="">
      <p:transition>
        <p:cover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0E8FD-4C42-4D34-187A-D2754E8F2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10" y="180459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/>
              <a:t>CLI (Simple sample IP &amp; OP)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3AF593-0338-7843-1795-494DC4B982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35010" y="1854002"/>
            <a:ext cx="4826693" cy="45173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3A91D5-3E34-D806-90DE-3DE0DA577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8955" y="1854002"/>
            <a:ext cx="4965290" cy="45173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8F07E7-AC52-248B-E518-6846A66B7FB5}"/>
              </a:ext>
            </a:extLst>
          </p:cNvPr>
          <p:cNvSpPr txBox="1"/>
          <p:nvPr/>
        </p:nvSpPr>
        <p:spPr>
          <a:xfrm>
            <a:off x="825910" y="1321356"/>
            <a:ext cx="2005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Single Day Program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8A69D6-D721-D240-42FF-00801BD7B4D4}"/>
              </a:ext>
            </a:extLst>
          </p:cNvPr>
          <p:cNvSpPr txBox="1"/>
          <p:nvPr/>
        </p:nvSpPr>
        <p:spPr>
          <a:xfrm>
            <a:off x="6400799" y="1321356"/>
            <a:ext cx="23204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Multi Day Program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4B1CB3-5514-E28A-EF38-2B15E454325D}"/>
              </a:ext>
            </a:extLst>
          </p:cNvPr>
          <p:cNvSpPr/>
          <p:nvPr/>
        </p:nvSpPr>
        <p:spPr>
          <a:xfrm>
            <a:off x="585019" y="400664"/>
            <a:ext cx="11021961" cy="605667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42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over/>
      </p:transition>
    </mc:Choice>
    <mc:Fallback xmlns="">
      <p:transition>
        <p:cover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CF92B-B2D7-25B8-081F-E2C0E99AE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6522" y="2766217"/>
            <a:ext cx="10515600" cy="1325563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FFFDE5-10BB-13D3-7E05-40F5C3F372A8}"/>
              </a:ext>
            </a:extLst>
          </p:cNvPr>
          <p:cNvSpPr/>
          <p:nvPr/>
        </p:nvSpPr>
        <p:spPr>
          <a:xfrm>
            <a:off x="585019" y="400664"/>
            <a:ext cx="11021961" cy="605667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559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cover/>
      </p:transition>
    </mc:Choice>
    <mc:Fallback xmlns="">
      <p:transition>
        <p:cover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2211</Words>
  <Application>Microsoft Office PowerPoint</Application>
  <PresentationFormat>Widescreen</PresentationFormat>
  <Paragraphs>275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Wingdings</vt:lpstr>
      <vt:lpstr>Office Theme</vt:lpstr>
      <vt:lpstr>Capstone Project</vt:lpstr>
      <vt:lpstr>Problem Statement (In short) :</vt:lpstr>
      <vt:lpstr>Understanding and Analyzing The Problem</vt:lpstr>
      <vt:lpstr>Algorithmic Approach &amp; Design  (Inc. Justification)</vt:lpstr>
      <vt:lpstr>Clear Justification Of Algorithm (By comparing)</vt:lpstr>
      <vt:lpstr>Algorithmic Analysis on Asymptotic Notations</vt:lpstr>
      <vt:lpstr>Example Problem (Solved in 2 ways) :</vt:lpstr>
      <vt:lpstr>Solution</vt:lpstr>
      <vt:lpstr>Key Concepts &amp; Working</vt:lpstr>
      <vt:lpstr>Pseudocode :</vt:lpstr>
      <vt:lpstr>Outputs (Web, CLI)</vt:lpstr>
      <vt:lpstr>Output (Web)</vt:lpstr>
      <vt:lpstr>CLI (Simple sample IP &amp; OP)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Ganath Avinash</dc:creator>
  <cp:lastModifiedBy>Ganath Avinash</cp:lastModifiedBy>
  <cp:revision>11</cp:revision>
  <dcterms:created xsi:type="dcterms:W3CDTF">2026-03-08T18:37:53Z</dcterms:created>
  <dcterms:modified xsi:type="dcterms:W3CDTF">2026-03-27T07:52:32Z</dcterms:modified>
</cp:coreProperties>
</file>